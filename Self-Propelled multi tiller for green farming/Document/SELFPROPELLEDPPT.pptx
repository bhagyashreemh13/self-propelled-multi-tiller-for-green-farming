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3" r:id="rId3"/>
    <p:sldMasterId id="2147483686" r:id="rId4"/>
  </p:sldMasterIdLst>
  <p:notesMasterIdLst>
    <p:notesMasterId r:id="rId28"/>
  </p:notesMasterIdLst>
  <p:handoutMasterIdLst>
    <p:handoutMasterId r:id="rId29"/>
  </p:handoutMasterIdLst>
  <p:sldIdLst>
    <p:sldId id="257" r:id="rId5"/>
    <p:sldId id="282" r:id="rId6"/>
    <p:sldId id="342" r:id="rId7"/>
    <p:sldId id="334" r:id="rId8"/>
    <p:sldId id="356" r:id="rId9"/>
    <p:sldId id="343" r:id="rId10"/>
    <p:sldId id="327" r:id="rId11"/>
    <p:sldId id="350" r:id="rId12"/>
    <p:sldId id="351" r:id="rId13"/>
    <p:sldId id="357" r:id="rId14"/>
    <p:sldId id="352" r:id="rId15"/>
    <p:sldId id="353" r:id="rId16"/>
    <p:sldId id="354" r:id="rId17"/>
    <p:sldId id="358" r:id="rId18"/>
    <p:sldId id="340" r:id="rId19"/>
    <p:sldId id="355" r:id="rId20"/>
    <p:sldId id="344" r:id="rId21"/>
    <p:sldId id="341" r:id="rId22"/>
    <p:sldId id="339" r:id="rId23"/>
    <p:sldId id="338" r:id="rId24"/>
    <p:sldId id="348" r:id="rId25"/>
    <p:sldId id="349" r:id="rId26"/>
    <p:sldId id="337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49" userDrawn="1">
          <p15:clr>
            <a:srgbClr val="A4A3A4"/>
          </p15:clr>
        </p15:guide>
        <p15:guide id="2" pos="23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8E01"/>
    <a:srgbClr val="000000"/>
    <a:srgbClr val="5858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48" autoAdjust="0"/>
    <p:restoredTop sz="94660"/>
  </p:normalViewPr>
  <p:slideViewPr>
    <p:cSldViewPr showGuides="1">
      <p:cViewPr varScale="1">
        <p:scale>
          <a:sx n="78" d="100"/>
          <a:sy n="78" d="100"/>
        </p:scale>
        <p:origin x="715" y="43"/>
      </p:cViewPr>
      <p:guideLst>
        <p:guide orient="horz" pos="1049"/>
        <p:guide pos="23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Futura Cyrillic Book" panose="020B0502020204020303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>
                <a:latin typeface="Futura Cyrillic Book" panose="020B0502020204020303" charset="0"/>
              </a:rPr>
              <a:t>1/9/2026</a:t>
            </a:fld>
            <a:endParaRPr lang="en-US">
              <a:latin typeface="Futura Cyrillic Book" panose="020B0502020204020303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Futura Cyrillic Book" panose="020B0502020204020303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>
                <a:latin typeface="Futura Cyrillic Book" panose="020B0502020204020303" charset="0"/>
              </a:rPr>
              <a:t>‹#›</a:t>
            </a:fld>
            <a:endParaRPr lang="en-US">
              <a:latin typeface="Futura Cyrillic Book" panose="020B0502020204020303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Futura Cyrillic Book" panose="020B0502020204020303" charset="0"/>
              </a:defRPr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Futura Cyrillic Book" panose="020B0502020204020303" charset="0"/>
              </a:defRPr>
            </a:lvl1pPr>
          </a:lstStyle>
          <a:p>
            <a:fld id="{0ECD8AD1-49EC-45F2-A2FF-1FE3195688C5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Futura Cyrillic Book" panose="020B0502020204020303" charset="0"/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Futura Cyrillic Book" panose="020B0502020204020303" charset="0"/>
              </a:defRPr>
            </a:lvl1pPr>
          </a:lstStyle>
          <a:p>
            <a:fld id="{7782813F-5D25-4BB6-888C-4601F85758C5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Futura Cyrillic Book" panose="020B0502020204020303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Futura Cyrillic Book" panose="020B0502020204020303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Futura Cyrillic Book" panose="020B0502020204020303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Futura Cyrillic Book" panose="020B0502020204020303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Futura Cyrillic Book" panose="020B0502020204020303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t>2</a:t>
            </a:fld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t>3</a:t>
            </a:fld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t>4</a:t>
            </a:fld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5202E-2B32-331F-E98C-C5302962E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D5EC4A-512A-7143-0557-5F10A3E830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2CF1FC-8E03-43A9-877A-B0BC5A41B4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E73820-0078-67BF-BED0-3FC626A877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07271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t>7</a:t>
            </a:fld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D6F19-B88A-00FA-CC2D-B28923D4B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82FB9B-7BFF-79DA-5762-6BB08770A9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08EB6F-C218-5D62-34C9-73260321B1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FBD804-2EEE-AA5A-656A-A6FFABA069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90439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DADCF-7703-6C23-40A3-513B81DFF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EC6B07-D1AE-40D8-17E2-9E109331FF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98AAC4-24A9-FF3E-33B9-7C12AC2CEC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CA232F-559A-2C4C-789C-02F6EC33D5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51836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B10AC-EA0B-4511-2D9A-5B62DF810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D62940-EE89-7AD3-FEEA-F487C99EDF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5A9928-CD9D-4B5C-C414-B363AD78A5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72A35B-FAF7-BCA7-3279-D03B769B45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07187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4C3C8-B8E7-D94C-333B-439AC3B95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8DE4D6-5A5A-0B01-3BDC-35F5C7C342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FBA62E-1FDA-C7AD-E063-85C03E300B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9BF1ED-CA41-2296-3ECC-F36BECB5CB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43250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23FB7-B761-9FDD-1464-6C1825C58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46B44B-5E1D-AAC5-85BA-FD6CC9A19F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597325-868E-601B-A777-E9D10814C4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B72B3F-27F5-4461-CE45-4295A12D89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70948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5F2E5-EFE0-5C45-F087-42B73E109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8EF81C-7270-B989-0A8A-24FE4B85B3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96CB1A-446F-428B-8CA3-2EE0A5940A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0D747-509E-0A93-7A87-D5B4DD80ED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32285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A483B-A4B2-695A-868F-56852E443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CC95BE-CCC0-C641-FF87-28AFD43602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B606C1-E3CD-AF86-CF56-58C399C40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837E03-1B3B-501B-8B62-C6313F560F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61256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t>15</a:t>
            </a:fld>
            <a:endParaRPr lang="en-I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D1437-0D54-DDAD-B566-EAA9F585E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56B1A2-B51F-01D2-F00E-A2D10E2781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0E1272-54E4-A98C-34BD-FC1A09F0E9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2AB7AB-F98C-C81C-31CB-1247E8D356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t>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34503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1F1BF-9E62-2C52-C2A6-5ADFBB8F0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7DA4B3-FA80-B5C7-564E-6567C64B18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3BC8C0-15B3-27EC-34A9-014193CFA3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B28131-E520-A784-A55E-145C3D421C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t>17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33554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t>18</a:t>
            </a:fld>
            <a:endParaRPr lang="en-I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t>19</a:t>
            </a:fld>
            <a:endParaRPr lang="en-I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t>20</a:t>
            </a:fld>
            <a:endParaRPr lang="en-I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2B5DA-C00A-FC78-3CAD-B55A695AB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0A16F2-B81F-EECC-7F03-6A330DDCA3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FF85C7-4250-538E-6399-8EA5B785FA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BB929-2E82-1B2D-5438-68631E2C97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t>21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50998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AD35D-2C9B-BB24-85F0-777E4876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645B9A-271A-B73E-9AB2-124C4CAE3B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075E2F-7CE0-79E2-CA71-23C53E7068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152C85-2ED7-09E9-D7FA-6F571F8AF4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t>22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47756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t>23</a:t>
            </a:fld>
            <a:endParaRPr lang="en-I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1">
          <a:blip r:embed="rId2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81ACE-890E-4B55-88CA-A440D73ED3A3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BB8E-5703-4605-9BD4-B6282EF196A0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 descr="Logo&#10;&#10;Description automatically generated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988"/>
          <a:stretch>
            <a:fillRect/>
          </a:stretch>
        </p:blipFill>
        <p:spPr>
          <a:xfrm>
            <a:off x="10256520" y="0"/>
            <a:ext cx="2194560" cy="9562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1">
          <a:blip r:embed="rId2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81ACE-890E-4B55-88CA-A440D73ED3A3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BB8E-5703-4605-9BD4-B6282EF196A0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 descr="Logo&#10;&#10;Description automatically generated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988"/>
          <a:stretch>
            <a:fillRect/>
          </a:stretch>
        </p:blipFill>
        <p:spPr>
          <a:xfrm>
            <a:off x="10256520" y="0"/>
            <a:ext cx="2194560" cy="9562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fld id="{4EF95999-A99C-46D6-BFDA-AEFA180EA74F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fld id="{36B80835-DEB3-4275-B379-2566D87801AD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fld id="{8CA01822-BBE1-4BC5-B54E-43DAA9793F7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fld id="{4EF95999-A99C-46D6-BFDA-AEFA180EA74F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F95999-A99C-46D6-BFDA-AEFA180EA74F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7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1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0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3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005200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 dirty="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 dirty="0"/>
          </a:p>
        </p:txBody>
      </p:sp>
      <p:grpSp>
        <p:nvGrpSpPr>
          <p:cNvPr id="20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ECE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2569363" y="2244407"/>
            <a:ext cx="7772400" cy="8604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368935" marR="0" algn="ctr">
              <a:lnSpc>
                <a:spcPct val="99000"/>
              </a:lnSpc>
              <a:spcBef>
                <a:spcPts val="0"/>
              </a:spcBef>
              <a:spcAft>
                <a:spcPts val="85"/>
              </a:spcAft>
            </a:pPr>
            <a:r>
              <a:rPr lang="en-IN" sz="2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Self -Propelled Multi Tiller for Green Farming</a:t>
            </a:r>
            <a:endParaRPr kumimoji="0" lang="en-I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886875" y="1553073"/>
            <a:ext cx="335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Project phase 2 </a:t>
            </a:r>
          </a:p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4593" y="3023552"/>
            <a:ext cx="1424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i="1" dirty="0"/>
              <a:t>Presented by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715933" y="3542166"/>
          <a:ext cx="8136903" cy="294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4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23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262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Group 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USN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369">
                <a:tc rowSpan="4"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4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N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BHAGYASHREE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N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1AY22EC020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36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N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JYOTI REDDY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N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1AY22EC056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36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N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ABHISHEK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N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1AY23EC401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36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N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ROHAN 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N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1AY22EC077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5240">
                <a:tc gridSpan="3"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Guide Name:  </a:t>
                      </a:r>
                      <a:r>
                        <a:rPr lang="en-US" b="1" dirty="0"/>
                        <a:t>Dr. Rajeswari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Designation:</a:t>
                      </a:r>
                      <a:r>
                        <a:rPr lang="en-US" b="1" baseline="0" dirty="0">
                          <a:solidFill>
                            <a:schemeClr val="tx1"/>
                          </a:solidFill>
                        </a:rPr>
                        <a:t>  Head of the Department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Title 1"/>
          <p:cNvSpPr txBox="1"/>
          <p:nvPr/>
        </p:nvSpPr>
        <p:spPr>
          <a:xfrm>
            <a:off x="2828443" y="395062"/>
            <a:ext cx="7620000" cy="914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IN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Department of Electronics and Communication Engineering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Acharya</a:t>
            </a:r>
            <a:r>
              <a:rPr kumimoji="0" lang="en-IN" sz="32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Institute of Technology</a:t>
            </a:r>
            <a:endParaRPr kumimoji="0" lang="en-IN" sz="4000" b="1" i="0" u="none" strike="noStrike" kern="120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IN" sz="2000" baseline="0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Soladevanahalli</a:t>
            </a:r>
            <a:r>
              <a:rPr lang="en-IN" sz="2000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</a:t>
            </a:r>
            <a:r>
              <a:rPr lang="en-IN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Bengaluru 560107</a:t>
            </a:r>
            <a:endParaRPr kumimoji="0" lang="en-IN" sz="2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005200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20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334467" y="3633590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ECE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2331850" y="365125"/>
            <a:ext cx="902195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 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2369316" y="1825625"/>
            <a:ext cx="8984484" cy="3584575"/>
          </a:xfrm>
        </p:spPr>
        <p:txBody>
          <a:bodyPr>
            <a:normAutofit fontScale="77500" lnSpcReduction="20000"/>
          </a:bodyPr>
          <a:lstStyle/>
          <a:p>
            <a:r>
              <a:rPr lang="en-US" sz="25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US" sz="25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LITRATURE SURVEY</a:t>
            </a:r>
          </a:p>
          <a:p>
            <a:r>
              <a:rPr lang="en-US" sz="25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STATEMANT </a:t>
            </a:r>
          </a:p>
          <a:p>
            <a:r>
              <a:rPr lang="en-US" sz="25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</a:t>
            </a:r>
          </a:p>
          <a:p>
            <a:r>
              <a:rPr lang="en-US" sz="25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  <a:p>
            <a:r>
              <a:rPr lang="en-US" sz="25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POTENTIAL</a:t>
            </a:r>
          </a:p>
          <a:p>
            <a:r>
              <a:rPr lang="en-US" sz="25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ANALYSIS</a:t>
            </a:r>
          </a:p>
          <a:p>
            <a:r>
              <a:rPr lang="en-US" sz="25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CONCULSION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</a:p>
          <a:p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005200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20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334467" y="3633590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 err="1">
                <a:solidFill>
                  <a:schemeClr val="bg1"/>
                </a:solidFill>
              </a:rPr>
              <a:t>Dept</a:t>
            </a:r>
            <a:r>
              <a:rPr lang="en-US" dirty="0">
                <a:solidFill>
                  <a:schemeClr val="bg1"/>
                </a:solidFill>
              </a:rPr>
              <a:t> of ECE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0090" y="0"/>
            <a:ext cx="9133710" cy="1371601"/>
          </a:xfrm>
        </p:spPr>
        <p:txBody>
          <a:bodyPr>
            <a:normAutofit/>
          </a:bodyPr>
          <a:lstStyle/>
          <a:p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8969" y="914400"/>
            <a:ext cx="9369165" cy="6781799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Agriculture is vital for rural livelihoods, yet traditional soil preparation methods are labor-intensive, inefficient, and unsuitable for small and fragmented fields. Manual and animal-driven tools lack control, while diesel machines are costly and polluting.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address these issues, a PLC-based Self-Propelled Multi-Micro Tiller is proposed. This electric system uses motors and soil sensors to automate tilling speed and depth based on real-time conditions. The solution reduces human effort, ensures uniform soil preparation, and promotes energy-efficient, eco-friendly, and sustainable farming.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005200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20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334467" y="3633590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 err="1">
                <a:solidFill>
                  <a:schemeClr val="bg1"/>
                </a:solidFill>
              </a:rPr>
              <a:t>Dept</a:t>
            </a:r>
            <a:r>
              <a:rPr lang="en-US" dirty="0">
                <a:solidFill>
                  <a:schemeClr val="bg1"/>
                </a:solidFill>
              </a:rPr>
              <a:t> of ECE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27250" y="-76200"/>
            <a:ext cx="10140950" cy="7735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spcBef>
                <a:spcPts val="0"/>
              </a:spcBef>
              <a:spcAft>
                <a:spcPts val="800"/>
              </a:spcAft>
            </a:pP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LITERATURE SURVEY </a:t>
            </a:r>
            <a:endParaRPr lang="en-US" b="1" dirty="0"/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Design and Implementation of a Self-Propelled Electric Tiller with Autonomous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Navigation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Doe, A. Smith, B. Johnson. 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Published in: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Industrial Electronics, Vol. 67, No. 5, May 2024. 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paper showcases the creation of a self-propelled electric tiller that comes with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navigation features.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Development of a Self-Propelled Tiller Robot for Precision Agriculture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M. Lee, K. Patel, S. Nguyen. 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Published in: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Robotics and Automation Letters, Vol. 9, No. 2, February 2025. 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research dives into the design and implementation of a self-propelled tiller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 tailored for precision agriculture.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Energy-Efficient Control Strategies for Self-Propelled Agricultural Tillers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 Kumar, L. Zhang, P. Garcia. 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Published in: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Sustainable Energy, Vol. 15, No. 3, March 2025. 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paper investigates energy-efficient control strategies for self-propelled tillers.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4997B-A408-684D-BC6D-DB15C049B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6AF71EA2-4CA3-0FDF-5891-8B4B2160641E}"/>
              </a:ext>
            </a:extLst>
          </p:cNvPr>
          <p:cNvSpPr/>
          <p:nvPr/>
        </p:nvSpPr>
        <p:spPr>
          <a:xfrm flipH="1">
            <a:off x="-24000" y="-2"/>
            <a:ext cx="2005200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BA7FA602-61A9-42DE-4FD8-DFEFA03684B6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1787D2D-126E-C625-E53D-EF927168371A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id="{6DFA1AEB-5C5C-58A2-CB49-A612561350C7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id="{11EC00F4-8E42-0737-A0CB-A42CA4628E0C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id="{DC042B91-5026-9077-A43D-9289202360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E8FBADB-7921-E1D7-250E-1BA78FA19462}"/>
              </a:ext>
            </a:extLst>
          </p:cNvPr>
          <p:cNvSpPr txBox="1"/>
          <p:nvPr/>
        </p:nvSpPr>
        <p:spPr>
          <a:xfrm>
            <a:off x="334467" y="3633590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 err="1">
                <a:solidFill>
                  <a:schemeClr val="bg1"/>
                </a:solidFill>
              </a:rPr>
              <a:t>Dept</a:t>
            </a:r>
            <a:r>
              <a:rPr lang="en-US" dirty="0">
                <a:solidFill>
                  <a:schemeClr val="bg1"/>
                </a:solidFill>
              </a:rPr>
              <a:t> of ECE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5F2CC7-A5C2-402D-1D1F-933EF4A94171}"/>
              </a:ext>
            </a:extLst>
          </p:cNvPr>
          <p:cNvSpPr txBox="1"/>
          <p:nvPr/>
        </p:nvSpPr>
        <p:spPr>
          <a:xfrm>
            <a:off x="2220090" y="-242360"/>
            <a:ext cx="9275910" cy="451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40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PROBLEM STATEMENT 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farming relies on manual labor, leading to inefficiency, inconsistency, and higher time and cost.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 and marginal farmers lack access to affordable, automated systems for real-time soil monitoring and tillage.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6876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28547-91E3-DCC3-326E-141AB6FDA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CDFB3-C2F3-F1DA-944A-5C8C6BBCA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8400" y="21591"/>
            <a:ext cx="8915400" cy="1694180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012C7-EEA6-52AB-5EAE-4D437A066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6640" y="1524000"/>
            <a:ext cx="9156062" cy="5312409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To design a four-wheeled electric multi-mic tiller, that includes all the essential accessories, a robust chassis, gears and chain drives, axles, and shaft assemblies. </a:t>
            </a:r>
            <a:endParaRPr lang="en-US" sz="9600" dirty="0"/>
          </a:p>
          <a:p>
            <a:pPr algn="just">
              <a:lnSpc>
                <a:spcPct val="150000"/>
              </a:lnSpc>
            </a:pPr>
            <a:r>
              <a:rPr lang="en-US" dirty="0"/>
              <a:t>To design a self-propelled system for the multi-mic tiller which involves a battery management system (BMS), navigation control, and an interface that allows for smooth connectivity with all the accessories</a:t>
            </a:r>
            <a:endParaRPr lang="en-US" sz="7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endParaRPr lang="en-IN" sz="2400"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D2BA2536-1346-72CA-652F-27B6D51B4E27}"/>
              </a:ext>
            </a:extLst>
          </p:cNvPr>
          <p:cNvSpPr/>
          <p:nvPr/>
        </p:nvSpPr>
        <p:spPr>
          <a:xfrm flipH="1">
            <a:off x="-24000" y="-2"/>
            <a:ext cx="2005200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9F1710C-120A-D062-4A8F-4BD42143C481}"/>
              </a:ext>
            </a:extLst>
          </p:cNvPr>
          <p:cNvGrpSpPr/>
          <p:nvPr/>
        </p:nvGrpSpPr>
        <p:grpSpPr>
          <a:xfrm>
            <a:off x="228600" y="1524000"/>
            <a:ext cx="2209165" cy="3067050"/>
            <a:chOff x="230" y="2322"/>
            <a:chExt cx="3479" cy="4830"/>
          </a:xfrm>
        </p:grpSpPr>
        <p:sp>
          <p:nvSpPr>
            <p:cNvPr id="7" name="Rectangle">
              <a:extLst>
                <a:ext uri="{FF2B5EF4-FFF2-40B4-BE49-F238E27FC236}">
                  <a16:creationId xmlns:a16="http://schemas.microsoft.com/office/drawing/2014/main" id="{DCD43647-043C-A576-B2C3-510238B4A1A4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8" name="Rectangle">
              <a:extLst>
                <a:ext uri="{FF2B5EF4-FFF2-40B4-BE49-F238E27FC236}">
                  <a16:creationId xmlns:a16="http://schemas.microsoft.com/office/drawing/2014/main" id="{E5BABE45-1BF1-29FF-8F0F-CC513C19C17D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23DB656D-7DC0-06CD-8845-CD11DFD48A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C27691E-4CF6-E113-8C72-A46949A327C2}"/>
              </a:ext>
            </a:extLst>
          </p:cNvPr>
          <p:cNvSpPr txBox="1"/>
          <p:nvPr/>
        </p:nvSpPr>
        <p:spPr>
          <a:xfrm>
            <a:off x="334467" y="3633590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 err="1">
                <a:solidFill>
                  <a:schemeClr val="bg1"/>
                </a:solidFill>
              </a:rPr>
              <a:t>Dept</a:t>
            </a:r>
            <a:r>
              <a:rPr lang="en-US" dirty="0">
                <a:solidFill>
                  <a:schemeClr val="bg1"/>
                </a:solidFill>
              </a:rPr>
              <a:t> of ECE</a:t>
            </a:r>
          </a:p>
        </p:txBody>
      </p:sp>
      <p:sp>
        <p:nvSpPr>
          <p:cNvPr id="14" name="Rectangle">
            <a:extLst>
              <a:ext uri="{FF2B5EF4-FFF2-40B4-BE49-F238E27FC236}">
                <a16:creationId xmlns:a16="http://schemas.microsoft.com/office/drawing/2014/main" id="{B08F6A8D-9658-B438-F655-7C5DFDDA8253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</p:spTree>
    <p:extLst>
      <p:ext uri="{BB962C8B-B14F-4D97-AF65-F5344CB8AC3E}">
        <p14:creationId xmlns:p14="http://schemas.microsoft.com/office/powerpoint/2010/main" val="3558463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43664" y="-2"/>
            <a:ext cx="2005200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20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 err="1">
                <a:solidFill>
                  <a:schemeClr val="bg1"/>
                </a:solidFill>
              </a:rPr>
              <a:t>Dept</a:t>
            </a:r>
            <a:r>
              <a:rPr lang="en-US" dirty="0">
                <a:solidFill>
                  <a:schemeClr val="bg1"/>
                </a:solidFill>
              </a:rPr>
              <a:t> of ECE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75486" y="503903"/>
            <a:ext cx="9183224" cy="768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PROPOSED METHODOLOGY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2F53D7D-D879-B834-10F5-885D4A64D1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5486" y="1474470"/>
            <a:ext cx="8842994" cy="53835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38385-3702-BD94-207D-4B91BE95E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7509D60A-7073-AA98-0838-CE00DD17CA49}"/>
              </a:ext>
            </a:extLst>
          </p:cNvPr>
          <p:cNvSpPr/>
          <p:nvPr/>
        </p:nvSpPr>
        <p:spPr>
          <a:xfrm flipH="1">
            <a:off x="-43664" y="-2"/>
            <a:ext cx="2005200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61D59C08-D6B2-39EE-780F-BD65F1048A97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B9EA9A1-62EB-3545-A94F-DF3F5673563A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id="{9F218135-BF87-2B4F-21C5-92345E6C46B0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id="{CB56070C-1E07-2066-EF4D-7E39402F1D84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id="{8E288775-2FAA-8700-74DF-A7B171BF1B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54FB2B95-C650-FEA8-B8A2-5FEA33933C83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 err="1">
                <a:solidFill>
                  <a:schemeClr val="bg1"/>
                </a:solidFill>
              </a:rPr>
              <a:t>Dept</a:t>
            </a:r>
            <a:r>
              <a:rPr lang="en-US" dirty="0">
                <a:solidFill>
                  <a:schemeClr val="bg1"/>
                </a:solidFill>
              </a:rPr>
              <a:t> of ECE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4C7C15-F824-1B30-FE36-F3C96A6540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1536" y="304800"/>
            <a:ext cx="9521494" cy="571500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IN" dirty="0">
                <a:latin typeface="fkGroteskNeue"/>
              </a:rPr>
              <a:t> 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  </a:t>
            </a:r>
          </a:p>
          <a:p>
            <a:pPr algn="just">
              <a:lnSpc>
                <a:spcPct val="10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Requirements focus on automation for small farms with manual/automodes, obstacle detection within 60 cm, rotor up/down control, and BMS charging display on a simple LCD interface. </a:t>
            </a:r>
          </a:p>
          <a:p>
            <a:pPr algn="just">
              <a:lnSpc>
                <a:spcPct val="10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Architecture selects Delta PLC (DVP series) as core controller, 7 BDC motors (4x4 for wheels via dedicated controller + 2 for rotors), ultrasonic/proximity sensors, relay outputs, and 24 V Li-ion pack with BMS.</a:t>
            </a:r>
          </a:p>
          <a:p>
            <a:pPr algn="just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4EF53F-D223-8C8C-AD04-FC536F34CB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656" y="3505200"/>
            <a:ext cx="9168744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076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00D35-62EC-FA1E-FF90-FB639CDF9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71A2DBB0-E797-2A95-3BE2-E76678B5478C}"/>
              </a:ext>
            </a:extLst>
          </p:cNvPr>
          <p:cNvSpPr/>
          <p:nvPr/>
        </p:nvSpPr>
        <p:spPr>
          <a:xfrm flipH="1">
            <a:off x="-43664" y="-2"/>
            <a:ext cx="2005200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B072CAEA-09EE-EF77-FAA4-FCC2A777F210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1FA38E9-6C9B-5C75-9FFA-5FF3B1697CB7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id="{22C3B186-1741-A60E-59FD-2D24A6B97F5D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id="{4D96B209-E32B-7097-0982-D6974071FB73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id="{3FB90E64-2ED9-813B-EFCF-6861E4F780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DA694E3F-ABE0-EB26-8F58-DB14EB911DFE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 err="1">
                <a:solidFill>
                  <a:schemeClr val="bg1"/>
                </a:solidFill>
              </a:rPr>
              <a:t>Dept</a:t>
            </a:r>
            <a:r>
              <a:rPr lang="en-US" dirty="0">
                <a:solidFill>
                  <a:schemeClr val="bg1"/>
                </a:solidFill>
              </a:rPr>
              <a:t> of ECE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BE354C-935D-2EA1-4CF3-36C2EFA16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2656" y="304801"/>
            <a:ext cx="9463344" cy="488696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endParaRPr lang="en-IN" b="1" dirty="0">
              <a:latin typeface="fkGroteskNeue"/>
            </a:endParaRPr>
          </a:p>
          <a:p>
            <a:pPr>
              <a:buNone/>
            </a:pPr>
            <a:r>
              <a:rPr lang="en-IN" b="1" dirty="0">
                <a:latin typeface="fkGroteskNeue"/>
              </a:rPr>
              <a:t>   </a:t>
            </a:r>
          </a:p>
          <a:p>
            <a:pPr>
              <a:buNone/>
            </a:pPr>
            <a:r>
              <a:rPr lang="en-IN" b="1" dirty="0">
                <a:latin typeface="fkGroteskNeue"/>
              </a:rPr>
              <a:t>   Hardware assembly</a:t>
            </a:r>
            <a:endParaRPr lang="en-IN" dirty="0">
              <a:latin typeface="fkGroteskNeue"/>
            </a:endParaRPr>
          </a:p>
          <a:p>
            <a:pPr algn="just">
              <a:lnSpc>
                <a:spcPct val="100000"/>
              </a:lnSpc>
              <a:buNone/>
            </a:pPr>
            <a:r>
              <a:rPr lang="en-IN" dirty="0">
                <a:latin typeface="fkGroteskNeue"/>
              </a:rPr>
              <a:t>  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Mount 7 BDC motors on chassis: 4 for wheel drive/steering via 4x4 motor controller board, 2 for rotavator/mulcher rotors, plus relays for up/down positioning.</a:t>
            </a:r>
          </a:p>
          <a:p>
            <a:pPr algn="just">
              <a:lnSpc>
                <a:spcPct val="100000"/>
              </a:lnSpc>
              <a:buNone/>
            </a:pP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ultrasonic/proximity sensor to PLC digital input for 60 cm obstacle detection with safety stop logic; wire voltage/current sensors and soil probes to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analog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inputs.</a:t>
            </a:r>
          </a:p>
          <a:p>
            <a:pPr algn="just">
              <a:lnSpc>
                <a:spcPct val="100000"/>
              </a:lnSpc>
              <a:buNone/>
            </a:pP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 LCD display to PLC serial port for real-time text output (e.g., "Manual Mode", "Obstacle Detected"); add BMS charging circuit with status feedback to LCD.</a:t>
            </a:r>
          </a:p>
          <a:p>
            <a:pPr algn="just">
              <a:lnSpc>
                <a:spcPct val="100000"/>
              </a:lnSpc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7060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5D24C-E8C8-C1C0-3719-341FF95C6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79B75CF5-9C71-0640-A7AE-EF60076A5974}"/>
              </a:ext>
            </a:extLst>
          </p:cNvPr>
          <p:cNvSpPr/>
          <p:nvPr/>
        </p:nvSpPr>
        <p:spPr>
          <a:xfrm flipH="1">
            <a:off x="-43664" y="-2"/>
            <a:ext cx="2005200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CC031FE3-BDF9-F964-9818-7755E0284132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2740CF2-BAF2-602D-6091-7EB5179801B2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id="{968B1391-2C18-30AB-B89C-684E9CB006EB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id="{D5645FDD-5874-59A9-A57E-28C166F18B1F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id="{C9B316E1-6341-09C6-3551-9B48E6E28D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32713FE-8FBC-DE21-228A-2CB6E6AC1A19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 err="1">
                <a:solidFill>
                  <a:schemeClr val="bg1"/>
                </a:solidFill>
              </a:rPr>
              <a:t>Dept</a:t>
            </a:r>
            <a:r>
              <a:rPr lang="en-US" dirty="0">
                <a:solidFill>
                  <a:schemeClr val="bg1"/>
                </a:solidFill>
              </a:rPr>
              <a:t> of ECE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B4A58F-ADA3-2E27-F751-34A66E8CD4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6696" y="685800"/>
            <a:ext cx="7898904" cy="601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6423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1F00B-7BC7-318B-4AD4-2F2CEA8E2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7605EC33-DC48-058C-1C27-C133EA7DDE94}"/>
              </a:ext>
            </a:extLst>
          </p:cNvPr>
          <p:cNvSpPr/>
          <p:nvPr/>
        </p:nvSpPr>
        <p:spPr>
          <a:xfrm flipH="1">
            <a:off x="-43664" y="-2"/>
            <a:ext cx="2005200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21885234-AC27-A6AB-F661-9B77E95BBB3B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CCA1522-1DB5-938E-7722-1C3DD9327E2B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id="{86C22110-AD29-99CD-4AA8-95AA56CE3513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id="{425C7D3D-05C7-A94A-8366-866F1F058119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id="{074BB138-DB48-A05F-62AF-74978B5455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1B90A71-4CF7-8BF6-5F6C-75AFC5A53EA5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 err="1">
                <a:solidFill>
                  <a:schemeClr val="bg1"/>
                </a:solidFill>
              </a:rPr>
              <a:t>Dept</a:t>
            </a:r>
            <a:r>
              <a:rPr lang="en-US" dirty="0">
                <a:solidFill>
                  <a:schemeClr val="bg1"/>
                </a:solidFill>
              </a:rPr>
              <a:t> of ECE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2F4196-1C4C-40C9-3E0C-6546614DB4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8978" y="228600"/>
            <a:ext cx="9364929" cy="6629400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1: Master Start/Stop and Mode Select </a:t>
            </a: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|--[I0.0 Start]--[I0.1 Stop NC]--|/M0|--(M0 Master Run)--|     // Latch master run relay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                  |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|--[M0]-------------|</a:t>
            </a: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|--[M0]--[I0.2 Manual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Btn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]--(M1 Manual Mode)--|              // Select manual mode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|--[M0]--[I0.3 Auto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Btn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]--(M2 Auto Mode)--|</a:t>
            </a: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|--[/M1]--[/M2]--|/M10|--(ERR Mode Fault on LCD)--|          // Fault if no mode</a:t>
            </a:r>
          </a:p>
          <a:p>
            <a:pPr marL="0" indent="0" algn="just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2: Obstacle Detection and Safety Stop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|--[M0]--[X0 Ultrasonic &lt;60cm]--|/M3|--(M3 Obstacle Alert)--|  // Detect obstacle, alert LCD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                                |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|--[M3 or I0.1 Stop]--(RST M0)--|/M0|                       // Immediate master stop</a:t>
            </a: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|--[M3]--(T0 3s Delay)--(M4 Obstacle Clear)--|               // Auto resume after pause if clear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|--[/X0]--[T0 Done]--(RST M3)--|</a:t>
            </a: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04510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07A26-6074-E809-B4EA-B2CD948D3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C8129E29-53C4-2025-1EE5-21BE5DC5E4CC}"/>
              </a:ext>
            </a:extLst>
          </p:cNvPr>
          <p:cNvSpPr/>
          <p:nvPr/>
        </p:nvSpPr>
        <p:spPr>
          <a:xfrm flipH="1">
            <a:off x="-43664" y="76200"/>
            <a:ext cx="2005200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1D927DA7-215E-F47B-A618-25DD2EFB7765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40306BB-10EF-D6F9-BFEE-020AF29308C9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id="{ED208D9A-FE60-D794-45E3-995E13D2D61C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id="{0BBF93B6-141D-ED2D-8779-73CDC8947877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id="{BE8BD802-EFDD-5333-7812-E2DE40F186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F219F84-66FD-EF3C-8E66-182E28F5CF8E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 err="1">
                <a:solidFill>
                  <a:schemeClr val="bg1"/>
                </a:solidFill>
              </a:rPr>
              <a:t>Dept</a:t>
            </a:r>
            <a:r>
              <a:rPr lang="en-US" dirty="0">
                <a:solidFill>
                  <a:schemeClr val="bg1"/>
                </a:solidFill>
              </a:rPr>
              <a:t> of ECE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EA2E43-FE55-5A6F-8594-06196D975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120" y="152400"/>
            <a:ext cx="9146680" cy="68580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3: Wheel Motors (4x4 Controller) Control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|--[M0]--[M1 Manual]--[I0.4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Fwd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]--(Y0 4x4 Enable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Fwd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)--|     // Manual forward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|--[M0]--[M2 Auto]--(Y0 4x4 Enable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Fwd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)--|                   // Auto forward default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|--[M0]--[I0.5 Rev]--(Y1 4x4 Reverse)--|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|--[/M3 Obstacle]--[Batt OK]--|/ERR|--|                      // Interlocks: no obstacle, good battery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4: Rotor Motors (2 BDC) and Position Control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|--[M0]--[I0.6 Rotor Down]--|/M5--(Y2 Rotor1 On)--(Y3 Rotor2 On)--|  // Engage rotors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                   |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|--[M5 Up Limit SW]--(RST)--|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|--[M0]--[I0.7 Rotor Up]--(Y4 Lift Relay)--[M6 Down Limit]--|/M6|   // Lift rotor arm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5: Dual Battery Monitoring and LCD Update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|--[M0]--[AI0 Batt1 &gt;20V]--(M7 Batt1 OK)--|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|--[AI1 Batt2 &gt;20V]--(M8 Batt2 OK)--|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|--[/M7 or /M8 or AI2 Curr &gt;Max]--(M9 Low Batt)--(LCD "Low Battery")--|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|--[TON T1 1s K10]--[M0]--(Send LCD Str: Mode/Batt/Status via RS485)--|  // Refresh LCD every sec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33600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69990-F79C-ABD0-B552-3B15440CA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FBEC0D9D-8C3F-40D2-F4AA-3992FAA466D6}"/>
              </a:ext>
            </a:extLst>
          </p:cNvPr>
          <p:cNvSpPr/>
          <p:nvPr/>
        </p:nvSpPr>
        <p:spPr>
          <a:xfrm flipH="1">
            <a:off x="-43664" y="-2"/>
            <a:ext cx="2005200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FA67FC72-1F9B-D062-ECA9-D445700106CE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972E461-76E5-06F3-F6FC-3CE88B6235C3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id="{56829439-A184-46BA-05D6-8798A07A62BB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id="{9FC9F753-519C-C0C7-6050-E09FD7F5DA94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id="{53430204-97DF-5207-7414-28BEB3FC3F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D7A20FA-E9CA-ED83-056C-4100D8D9A8C7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 err="1">
                <a:solidFill>
                  <a:schemeClr val="bg1"/>
                </a:solidFill>
              </a:rPr>
              <a:t>Dept</a:t>
            </a:r>
            <a:r>
              <a:rPr lang="en-US" dirty="0">
                <a:solidFill>
                  <a:schemeClr val="bg1"/>
                </a:solidFill>
              </a:rPr>
              <a:t> of ECE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8BFF92-35A0-8230-D5BF-2A7F5E32B221}"/>
              </a:ext>
            </a:extLst>
          </p:cNvPr>
          <p:cNvSpPr txBox="1"/>
          <p:nvPr/>
        </p:nvSpPr>
        <p:spPr>
          <a:xfrm>
            <a:off x="2175486" y="0"/>
            <a:ext cx="9597988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Network 6: Auto Mode Sequence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|--[M2 Auto]--[/M3 Obstacle]--(TON T2 5s K50)--(M10 Tilling Seq)--|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|--[M10]--(Y0 Wheels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Fwd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Med)--(Y2 Rotors On)--|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|--[Limit End Field or Obstacle]--(RST M10)--(T3 Pause)--|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benefits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24 V setup powers the 7 BDC motors efficiently (4x4 controller rated for 24 V), enabling faster tilling speeds without overheating.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LCD shows dual-battery status alongside modes and obstacles, helping farmers manage swaps or charging without downtime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and validation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Bench test verifies obstacle response (&lt;0.5 s stop at 60 cm), LCD updates (mode/status changes in &lt;1 s), and motor control (4x4 board handles 12 V loads).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Field trials in narrow plots measure runtime (4+ hours on single charge), tilling consistency, and BMS recharge efficiency; log data via PLC for analysis.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Tune parameters: adjust obstacle threshold, motor PID gains, and display refresh for reliable farmer operation.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endParaRPr lang="en-IN" b="0" i="0" dirty="0">
              <a:effectLst/>
              <a:latin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26315530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D1E69-921A-B4DB-42BD-DACB8DCCD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012A1081-ABE4-0218-1090-488AF8C50DE2}"/>
              </a:ext>
            </a:extLst>
          </p:cNvPr>
          <p:cNvSpPr/>
          <p:nvPr/>
        </p:nvSpPr>
        <p:spPr>
          <a:xfrm flipH="1">
            <a:off x="-43664" y="-2"/>
            <a:ext cx="2005200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EB3EF613-24D7-98E0-D97F-40D211ACA888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84333D0-E915-2C5D-9FD4-F0F0B58BD327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id="{116070FE-4734-49BC-7DC3-02D6C85CF9D9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id="{B4C5879A-3C4B-2AAB-03CA-E3267A775894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id="{BCA7C94C-2E4E-7BAF-3CCF-EBB07A96D1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0659C65-3F2D-297D-0037-35DCEE859D6D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 err="1">
                <a:solidFill>
                  <a:schemeClr val="bg1"/>
                </a:solidFill>
              </a:rPr>
              <a:t>Dept</a:t>
            </a:r>
            <a:r>
              <a:rPr lang="en-US" dirty="0">
                <a:solidFill>
                  <a:schemeClr val="bg1"/>
                </a:solidFill>
              </a:rPr>
              <a:t> of ECE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FC1EAD-0B8D-A0E8-9C8E-0FA03D96FD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9950" y="57150"/>
            <a:ext cx="8889550" cy="674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3841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005200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 dirty="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 dirty="0"/>
          </a:p>
        </p:txBody>
      </p:sp>
      <p:grpSp>
        <p:nvGrpSpPr>
          <p:cNvPr id="20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ECE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2745" y="381000"/>
            <a:ext cx="10065255" cy="1140788"/>
          </a:xfrm>
        </p:spPr>
        <p:txBody>
          <a:bodyPr>
            <a:no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br>
              <a:rPr lang="en-US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POTENTIAL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3" name="TextBox 10"/>
          <p:cNvSpPr txBox="1"/>
          <p:nvPr/>
        </p:nvSpPr>
        <p:spPr>
          <a:xfrm>
            <a:off x="2295020" y="1902790"/>
            <a:ext cx="9183964" cy="326865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Greenhouse farming is increasing in India and other countries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Urbanization → less land → need for protected farming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Labor shortage in agriculture → need for automation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support for smart &amp; solar-based farming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demand from small &amp; marginal farmers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export potential (Israel, Netherlands, UAE)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growing at 7–10% CAGR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F68DE-7420-2AD5-FF6C-A9FA9E435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1DAB9F84-2511-FDA2-C6FC-9CB74C1008DD}"/>
              </a:ext>
            </a:extLst>
          </p:cNvPr>
          <p:cNvSpPr/>
          <p:nvPr/>
        </p:nvSpPr>
        <p:spPr>
          <a:xfrm flipH="1">
            <a:off x="-24000" y="-2"/>
            <a:ext cx="2005200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 dirty="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9796F65D-CE5E-8E8D-1111-37B14D302F2D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CF8CF18-FC77-DB1F-D5D3-CB246A6C96FA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id="{1C7E4647-DE20-7967-BEB3-C1E73B3B2281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id="{43C1DABD-C516-1EE0-6B86-8C5274D10BA7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id="{5A8667A5-675F-0134-DA94-2055D82614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385849B-FC53-80E8-38C6-A090D2AE81F4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ECE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5A1068-F714-A5DE-4735-1DF4CEF457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-381000"/>
            <a:ext cx="9525000" cy="1326315"/>
          </a:xfrm>
        </p:spPr>
        <p:txBody>
          <a:bodyPr>
            <a:no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ANALYSIS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0104C7-D6FF-EA65-AF11-06B26CBD96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3" name="TextBox 10">
            <a:extLst>
              <a:ext uri="{FF2B5EF4-FFF2-40B4-BE49-F238E27FC236}">
                <a16:creationId xmlns:a16="http://schemas.microsoft.com/office/drawing/2014/main" id="{DAA1D111-4CBA-CA72-CD07-26A2FFE7B170}"/>
              </a:ext>
            </a:extLst>
          </p:cNvPr>
          <p:cNvSpPr txBox="1"/>
          <p:nvPr/>
        </p:nvSpPr>
        <p:spPr>
          <a:xfrm>
            <a:off x="2483991" y="1039846"/>
            <a:ext cx="8849319" cy="557697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Time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Manual: Takes more time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Independent: Medium time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Integrated: Least time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Cost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Manual: High labor cost every season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Independent: High fuel &amp; maintenance cost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Integrated: One-time cost, low running cost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Labor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Manual: Needs many workers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Independent: Needs 1–2 operators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Integrated: Needs only 1 operator</a:t>
            </a:r>
          </a:p>
        </p:txBody>
      </p:sp>
    </p:spTree>
    <p:extLst>
      <p:ext uri="{BB962C8B-B14F-4D97-AF65-F5344CB8AC3E}">
        <p14:creationId xmlns:p14="http://schemas.microsoft.com/office/powerpoint/2010/main" val="24747289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F92DB-99D1-514D-746E-61A531BD3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A62145A8-94C3-55D8-DADC-A05414831FB4}"/>
              </a:ext>
            </a:extLst>
          </p:cNvPr>
          <p:cNvSpPr/>
          <p:nvPr/>
        </p:nvSpPr>
        <p:spPr>
          <a:xfrm flipH="1">
            <a:off x="-24000" y="-2"/>
            <a:ext cx="2005200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 dirty="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0A8399C1-8482-B7D9-BC44-7E458199A385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771BCD3-E89D-374C-ADFC-C64F5EC9F272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id="{1358E7C8-3CFD-392B-20F5-7C76F4BE62A6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id="{51EEB002-1673-3648-9DF1-725122001F3D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id="{95ED35A8-02F9-FC60-8495-0800EBFDCE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06E0C9E-4A2F-D741-2155-A21558829DFC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ECE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BAB3FD-D16F-83D9-5F1D-C5B8818E9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DISCUSSIONS</a:t>
            </a:r>
            <a:endParaRPr lang="en-I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08D9B97-BA40-8FEF-AE2B-142B85A0CD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6000" y="1474470"/>
            <a:ext cx="9347030" cy="576453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achieved tilling depth is suitable for seedbed preparation in small farms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Stable chassis performance confirms proper material selection and frame design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Electric drive system reduced noise and eliminated fuel dependency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Compact size and low weight improved maneuverability in field conditions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Results validate the feasibility of a low-cost, eco-friendly tilling solution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5111683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005200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 dirty="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 dirty="0"/>
          </a:p>
        </p:txBody>
      </p:sp>
      <p:grpSp>
        <p:nvGrpSpPr>
          <p:cNvPr id="20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ECE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36001" y="365125"/>
            <a:ext cx="11017800" cy="854075"/>
          </a:xfrm>
        </p:spPr>
        <p:txBody>
          <a:bodyPr>
            <a:normAutofit/>
          </a:bodyPr>
          <a:lstStyle/>
          <a:p>
            <a:r>
              <a:rPr lang="en-IN" dirty="0"/>
              <a:t>       </a:t>
            </a:r>
            <a:r>
              <a:rPr lang="en-IN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sz="4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0F036B-D820-A677-D242-73B3C4A7517E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170238" y="4419600"/>
            <a:ext cx="9021762" cy="2692400"/>
          </a:xfrm>
        </p:spPr>
        <p:txBody>
          <a:bodyPr>
            <a:normAutofit fontScale="25000" lnSpcReduction="20000"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 fabrication and assembly of the self-propelled multi-tiller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Uniform soil tilling achieved at </a:t>
            </a:r>
            <a:r>
              <a:rPr lang="en-IN" sz="7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100–150 mm</a:t>
            </a:r>
            <a:r>
              <a:rPr lang="en-US" sz="7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depth</a:t>
            </a:r>
            <a:endParaRPr lang="en-US" sz="7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Smooth forward movement with stable wheel traction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Chain–sprocket drive provided sufficient torque for soil cutting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visible structural deformation or excessive vibration during testing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C8E0A6-ABD3-08EA-C985-02F42B87417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6" r="505"/>
          <a:stretch>
            <a:fillRect/>
          </a:stretch>
        </p:blipFill>
        <p:spPr>
          <a:xfrm>
            <a:off x="2316610" y="1494154"/>
            <a:ext cx="2621150" cy="28759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EDFB6D-A5B3-01A6-2593-19B136F9753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5200" y="1474470"/>
            <a:ext cx="5684520" cy="287591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005200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 dirty="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 dirty="0"/>
          </a:p>
        </p:txBody>
      </p:sp>
      <p:grpSp>
        <p:nvGrpSpPr>
          <p:cNvPr id="20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ECE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VIDEO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220090" y="1825625"/>
            <a:ext cx="913371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7" name="Video1">
            <a:hlinkClick r:id="" action="ppaction://media"/>
            <a:extLst>
              <a:ext uri="{FF2B5EF4-FFF2-40B4-BE49-F238E27FC236}">
                <a16:creationId xmlns:a16="http://schemas.microsoft.com/office/drawing/2014/main" id="{658B0ABF-476B-305A-A1D1-22F1F97D218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865438" y="1600200"/>
            <a:ext cx="7497762" cy="4191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566"/>
    </mc:Choice>
    <mc:Fallback xmlns="">
      <p:transition spd="slow" advTm="1456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56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005200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 dirty="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 dirty="0"/>
          </a:p>
        </p:txBody>
      </p:sp>
      <p:grpSp>
        <p:nvGrpSpPr>
          <p:cNvPr id="20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ECE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AC86741-D80B-B7A2-9857-A34D30E4D0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96344" y="838200"/>
            <a:ext cx="4486686" cy="380045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8D72341-3462-2A38-ED21-AD2AAD7A58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331850" y="4756224"/>
            <a:ext cx="8183750" cy="1949376"/>
          </a:xfrm>
        </p:spPr>
        <p:txBody>
          <a:bodyPr>
            <a:noAutofit/>
          </a:bodyPr>
          <a:lstStyle/>
          <a:p>
            <a:pPr marL="285750" indent="-28575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Completed assembly of chassis, motors, blades &amp; wiring</a:t>
            </a:r>
          </a:p>
          <a:p>
            <a:pPr marL="285750" indent="-28575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ground testing performed under real soil conditions</a:t>
            </a:r>
          </a:p>
          <a:p>
            <a:pPr marL="285750" indent="-28575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Soil tilling achieved at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50–100 mm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depth</a:t>
            </a:r>
          </a:p>
          <a:p>
            <a:pPr marL="285750" indent="-28575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stable during vibration and lateral movement</a:t>
            </a:r>
          </a:p>
          <a:p>
            <a:endParaRPr lang="en-IN" sz="2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CC70A52-D53F-2E92-551F-466B1786F59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1894" y="838200"/>
            <a:ext cx="4338599" cy="37039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13749-20BE-5824-B5F2-6CD1CDADC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8B0F5193-253D-D189-CE20-7798BD3988D9}"/>
              </a:ext>
            </a:extLst>
          </p:cNvPr>
          <p:cNvSpPr/>
          <p:nvPr/>
        </p:nvSpPr>
        <p:spPr>
          <a:xfrm flipH="1">
            <a:off x="-24000" y="-2"/>
            <a:ext cx="2005200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 dirty="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D4483EEC-06F0-91E7-C96D-30FC70D5A38B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28CC2D1-48C5-3D99-210D-1B9673D940D8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id="{A02459D6-9B0A-AE80-8FD5-DD5BE50AFA23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id="{FE0AB0F0-BD6F-4EA8-12D6-5BBC5FEB2725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id="{8FD45A84-248A-882B-6263-DD334DE8DE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557AEEB2-BC77-61B5-0DA7-F71AB618871B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ECE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B53DC33-FFD0-8797-6CF8-08787C151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DB44E22-94EA-9DAD-8894-5875F251B8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7296382"/>
              </p:ext>
            </p:extLst>
          </p:nvPr>
        </p:nvGraphicFramePr>
        <p:xfrm>
          <a:off x="2362920" y="1825625"/>
          <a:ext cx="8990880" cy="27165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5440">
                  <a:extLst>
                    <a:ext uri="{9D8B030D-6E8A-4147-A177-3AD203B41FA5}">
                      <a16:colId xmlns:a16="http://schemas.microsoft.com/office/drawing/2014/main" val="1089339310"/>
                    </a:ext>
                  </a:extLst>
                </a:gridCol>
                <a:gridCol w="4495440">
                  <a:extLst>
                    <a:ext uri="{9D8B030D-6E8A-4147-A177-3AD203B41FA5}">
                      <a16:colId xmlns:a16="http://schemas.microsoft.com/office/drawing/2014/main" val="3513331361"/>
                    </a:ext>
                  </a:extLst>
                </a:gridCol>
              </a:tblGrid>
              <a:tr h="543306">
                <a:tc>
                  <a:txBody>
                    <a:bodyPr/>
                    <a:lstStyle>
                      <a:defPPr>
                        <a:defRPr lang="en-US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n-US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Observed 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979626"/>
                  </a:ext>
                </a:extLst>
              </a:tr>
              <a:tr h="543306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Tilling depth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50-100 mm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9237944"/>
                  </a:ext>
                </a:extLst>
              </a:tr>
              <a:tr h="543306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frame vibration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4888040"/>
                  </a:ext>
                </a:extLst>
              </a:tr>
              <a:tr h="543306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source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Battery operated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5793856"/>
                  </a:ext>
                </a:extLst>
              </a:tr>
              <a:tr h="543306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Soil condition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Uniformly loosened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07109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1E0F42B-B01F-427E-9601-C4B4AA43FE1C}"/>
              </a:ext>
            </a:extLst>
          </p:cNvPr>
          <p:cNvSpPr txBox="1"/>
          <p:nvPr/>
        </p:nvSpPr>
        <p:spPr>
          <a:xfrm>
            <a:off x="2247524" y="4088938"/>
            <a:ext cx="9542072" cy="1687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 system reduces </a:t>
            </a: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operational cost, </a:t>
            </a:r>
            <a:r>
              <a:rPr lang="en-US" sz="24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labour</a:t>
            </a: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effort, and environmental impact</a:t>
            </a:r>
            <a:endParaRPr lang="en-US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38803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F2A0D-A317-C766-1638-FE80CA8BE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79E03114-405D-E259-9EC4-D666486352D7}"/>
              </a:ext>
            </a:extLst>
          </p:cNvPr>
          <p:cNvSpPr/>
          <p:nvPr/>
        </p:nvSpPr>
        <p:spPr>
          <a:xfrm flipH="1">
            <a:off x="-24000" y="-2"/>
            <a:ext cx="2005200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 dirty="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A9511C2F-14A7-D539-236A-F86B8F3D38BD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20490F8-EC60-7D33-7268-17C40721136D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id="{66F3A324-3BBF-0790-8BAF-AD22F7BF8360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id="{14EF7D51-A09F-FA69-7C8B-46DA1221DE85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id="{D0CBB7E7-D336-59C5-07CB-6CB5957287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B1D0DE7-E8B8-C62E-9BB7-B6C8F34A7CAE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ECE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FEBAE6F-7E27-0689-BFDE-7B8DC783D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CONCULSION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1695877-0454-EFE8-5F80-2EEB7CEBF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8200" y="1825625"/>
            <a:ext cx="9204830" cy="43513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Self-Propelled Multi-Tiller project successfully combines mechanical design, electric propulsion, and multi-functional agricultural attachments into a compact and efficient system.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chassis, motors, sensors, and electronic control modules are selected and integrated to reduce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labour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dependency, improve soil preparation quality, and provide an eco-friendly alternative to fuel-powered tillers.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78324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005200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 dirty="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 dirty="0"/>
          </a:p>
        </p:txBody>
      </p:sp>
      <p:grpSp>
        <p:nvGrpSpPr>
          <p:cNvPr id="20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ECE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123400" y="365125"/>
            <a:ext cx="92304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ontent Placeholder 5"/>
          <p:cNvSpPr>
            <a:spLocks noGrp="1"/>
          </p:cNvSpPr>
          <p:nvPr>
            <p:ph idx="1"/>
          </p:nvPr>
        </p:nvSpPr>
        <p:spPr>
          <a:xfrm>
            <a:off x="2136000" y="685800"/>
            <a:ext cx="9514800" cy="6477000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br>
              <a:rPr lang="en-IN" dirty="0"/>
            </a:b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.S. Bhosale and A. Patil, &amp;</a:t>
            </a:r>
            <a:r>
              <a:rPr lang="en-IN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quot;IoT-Based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Smart Farming: Soil Moisture Monitoring and Data Logging System,&amp;</a:t>
            </a:r>
            <a:r>
              <a:rPr lang="en-IN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quot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in Proc. 6th Int. Conf. Commun. Electron. Syst. (ICCES), 2021, pp..</a:t>
            </a:r>
            <a:b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[2]. R. Sahu and V. Kumar, &amp;</a:t>
            </a:r>
            <a:r>
              <a:rPr lang="en-IN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quot;Design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Development of a Multipurpose Agricultural Robot,&amp;</a:t>
            </a:r>
            <a:r>
              <a:rPr lang="en-IN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quot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in Proc.  IEEE Int. Conf. </a:t>
            </a:r>
            <a:r>
              <a:rPr lang="en-IN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Electr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Electron. </a:t>
            </a:r>
            <a:r>
              <a:rPr lang="en-IN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Sci., 2020,pp. </a:t>
            </a:r>
            <a:b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[3]. A. Krishnan and R. Iyer, &amp;</a:t>
            </a:r>
            <a:r>
              <a:rPr lang="en-IN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quot;Development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an Autonomous Farming Robot </a:t>
            </a:r>
            <a:r>
              <a:rPr lang="en-IN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withSensor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Navigation,&amp;</a:t>
            </a:r>
            <a:r>
              <a:rPr lang="en-IN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quot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in Proc. IEEE Conf. Recent </a:t>
            </a:r>
            <a:r>
              <a:rPr lang="en-IN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Innov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Electr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Electron. Commun. Eng. (ICRIEECE), 2022, pp. 804–809. </a:t>
            </a:r>
            <a:r>
              <a:rPr lang="en-IN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10.1109/ICRIEECE54175.2022.9759218.</a:t>
            </a:r>
            <a:b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70000"/>
              </a:lnSpc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</a:pP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utura Cyrillic Boo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utura Cyrillic Boo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utura Cyrillic Boo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Custom Desig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utura Cyrillic Book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utura Cyrillic Book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1828</Words>
  <Application>Microsoft Office PowerPoint</Application>
  <PresentationFormat>Widescreen</PresentationFormat>
  <Paragraphs>225</Paragraphs>
  <Slides>23</Slides>
  <Notes>22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23</vt:i4>
      </vt:variant>
    </vt:vector>
  </HeadingPairs>
  <TitlesOfParts>
    <vt:vector size="34" baseType="lpstr">
      <vt:lpstr>Arial</vt:lpstr>
      <vt:lpstr>Calibri</vt:lpstr>
      <vt:lpstr>Calibri Light</vt:lpstr>
      <vt:lpstr>fkGroteskNeue</vt:lpstr>
      <vt:lpstr>Futura Cyrillic Book</vt:lpstr>
      <vt:lpstr>Times New Roman</vt:lpstr>
      <vt:lpstr>Wingdings</vt:lpstr>
      <vt:lpstr>1_Custom Design</vt:lpstr>
      <vt:lpstr>Custom Design</vt:lpstr>
      <vt:lpstr>2_Custom Design</vt:lpstr>
      <vt:lpstr>3_Custom Design</vt:lpstr>
      <vt:lpstr>PowerPoint Presentation</vt:lpstr>
      <vt:lpstr>TABLE OF CONTENT </vt:lpstr>
      <vt:lpstr> INTRODUCTION</vt:lpstr>
      <vt:lpstr>PowerPoint Presentation</vt:lpstr>
      <vt:lpstr>PowerPoint Presentation</vt:lpstr>
      <vt:lpstr>OBJECTIVES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MARKET POTENTIAL</vt:lpstr>
      <vt:lpstr>COMPARATIVE ANALYSIS</vt:lpstr>
      <vt:lpstr>           RESULTS AND DISCUSSIONS</vt:lpstr>
      <vt:lpstr>             RESULTS AND DISCUSSIONS</vt:lpstr>
      <vt:lpstr>               WORKING VIDEO</vt:lpstr>
      <vt:lpstr>PowerPoint Presentation</vt:lpstr>
      <vt:lpstr>           PERFORMANCE ANALYSIS</vt:lpstr>
      <vt:lpstr>           CONCULSION</vt:lpstr>
      <vt:lpstr>REFERENCE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Principal aip</dc:creator>
  <cp:lastModifiedBy>Bhagyashree Hollikatti</cp:lastModifiedBy>
  <cp:revision>132</cp:revision>
  <dcterms:created xsi:type="dcterms:W3CDTF">2021-09-07T04:22:00Z</dcterms:created>
  <dcterms:modified xsi:type="dcterms:W3CDTF">2026-01-09T05:00:17Z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0398283ACE364599A240D38F3F474187_13</vt:lpwstr>
  </property>
  <property fmtid="{D5CDD505-2E9C-101B-9397-08002B2CF9AE}" pid="3" name="KSOProductBuildVer">
    <vt:lpwstr>1033-12.2.0.23196</vt:lpwstr>
  </property>
</Properties>
</file>